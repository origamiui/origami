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23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F2F4E"/>
          </a:solidFill>
          <a:ln w="12700">
            <a:solidFill>
              <a:srgbClr val="9F2F4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Origami UI —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41080" y="647395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3 walkthrough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9F2F4E"/>
          </a:solidFill>
          <a:ln w="12700">
            <a:solidFill>
              <a:srgbClr val="9F2F4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Origami UI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76656" y="1554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presentation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• UML • quality factors • evidence logs • live scenario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834640"/>
            <a:ext cx="4663440" cy="2057400"/>
          </a:xfrm>
          <a:prstGeom prst="roundRect">
            <a:avLst>
              <a:gd name="adj" fmla="val 2667"/>
            </a:avLst>
          </a:prstGeom>
          <a:solidFill>
            <a:srgbClr val="F1ECD2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86968" y="3127248"/>
            <a:ext cx="41605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ANSI C immediate-mode GUI library
</a:t>
            </a:r>
            <a:r>
              <a:rPr lang="en-US" sz="16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application owns input, window, and renderer
</a:t>
            </a:r>
            <a:r>
              <a:rPr lang="en-US" sz="16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Origami emits abstract draw commands via ou_walk()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868680" y="449884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9F2F4E"/>
          </a:solidFill>
          <a:ln w="12700">
            <a:solidFill>
              <a:srgbClr val="9F2F4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68680" y="45445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3 walkthrough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3035808" y="449884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496B5A"/>
          </a:solidFill>
          <a:ln w="12700">
            <a:solidFill>
              <a:srgbClr val="496B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035808" y="454456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15-minute demo flow</a:t>
            </a:r>
            <a:endParaRPr lang="en-US" sz="1010" dirty="0"/>
          </a:p>
        </p:txBody>
      </p:sp>
      <p:pic>
        <p:nvPicPr>
          <p:cNvPr id="13" name="Image 0" descr="/mnt/data/compon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15627"/>
            <a:ext cx="5257800" cy="341526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16752" y="5733288"/>
            <a:ext cx="5212080" cy="0"/>
          </a:xfrm>
          <a:prstGeom prst="line">
            <a:avLst/>
          </a:prstGeom>
          <a:noFill/>
          <a:ln w="12700">
            <a:solidFill>
              <a:srgbClr val="C7BD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6126480" y="58064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component view: host app → Origami API → widgets/core → command buffer → renderer</a:t>
            </a:r>
            <a:endParaRPr lang="en-US" sz="10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is structured to match the instructor checklist and the live recording flow.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6492240" cy="4983480"/>
          </a:xfrm>
          <a:prstGeom prst="roundRect">
            <a:avLst>
              <a:gd name="adj" fmla="val 1101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41248" y="15179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What we cover before the live run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5650992" cy="3822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Planning, requirements, design, implementation, deployment, and test artifacts
</a:t>
            </a:r>
            <a:r>
              <a:rPr lang="en-US" sz="15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architecture plus UML class and sequence views
</a:t>
            </a:r>
            <a:r>
              <a:rPr lang="en-US" sz="15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factors with metric, target, measured value, and linked tests
</a:t>
            </a:r>
            <a:r>
              <a:rPr lang="en-US" sz="15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evidence: build/run smoke, strict compile, Unity suite, documentation checks
</a:t>
            </a:r>
            <a:r>
              <a:rPr lang="en-US" sz="15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from scoped use cases to sprint tasks and test cases
</a:t>
            </a:r>
            <a:r>
              <a:rPr lang="en-US" sz="15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report: implemented feedback, effort, cost, and deferred items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7269480" y="1234440"/>
            <a:ext cx="4370832" cy="4983480"/>
          </a:xfrm>
          <a:prstGeom prst="roundRect">
            <a:avLst>
              <a:gd name="adj" fmla="val 1255"/>
            </a:avLst>
          </a:prstGeom>
          <a:solidFill>
            <a:srgbClr val="F8F3E5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571232" y="1517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Live demo path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91272" y="2249424"/>
            <a:ext cx="0" cy="658368"/>
          </a:xfrm>
          <a:prstGeom prst="line">
            <a:avLst/>
          </a:prstGeom>
          <a:noFill/>
          <a:ln w="12700">
            <a:solidFill>
              <a:srgbClr val="C3B8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571232" y="1901952"/>
            <a:ext cx="438912" cy="438912"/>
          </a:xfrm>
          <a:prstGeom prst="ellipse">
            <a:avLst/>
          </a:prstGeom>
          <a:solidFill>
            <a:srgbClr val="9F2F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571232" y="19933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190195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</a:rPr>
              <a:t>Show build command and launch the SDL2 demo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891272" y="3017520"/>
            <a:ext cx="0" cy="658368"/>
          </a:xfrm>
          <a:prstGeom prst="line">
            <a:avLst/>
          </a:prstGeom>
          <a:noFill/>
          <a:ln w="12700">
            <a:solidFill>
              <a:srgbClr val="C3B8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571232" y="2670048"/>
            <a:ext cx="438912" cy="438912"/>
          </a:xfrm>
          <a:prstGeom prst="ellipse">
            <a:avLst/>
          </a:prstGeom>
          <a:solidFill>
            <a:srgbClr val="9F2F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571232" y="27614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83880" y="267004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</a:rPr>
              <a:t>Run one command-pipeline render flow (UC-2)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7891272" y="3785616"/>
            <a:ext cx="0" cy="658368"/>
          </a:xfrm>
          <a:prstGeom prst="line">
            <a:avLst/>
          </a:prstGeom>
          <a:noFill/>
          <a:ln w="12700">
            <a:solidFill>
              <a:srgbClr val="C3B8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7571232" y="3438144"/>
            <a:ext cx="438912" cy="438912"/>
          </a:xfrm>
          <a:prstGeom prst="ellipse">
            <a:avLst/>
          </a:prstGeom>
          <a:solidFill>
            <a:srgbClr val="9F2F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571232" y="352958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83880" y="343814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</a:rPr>
              <a:t>Interact with controls: button, input, slider, toggle (UC-3)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7891272" y="4553712"/>
            <a:ext cx="0" cy="658368"/>
          </a:xfrm>
          <a:prstGeom prst="line">
            <a:avLst/>
          </a:prstGeom>
          <a:noFill/>
          <a:ln w="12700">
            <a:solidFill>
              <a:srgbClr val="C3B8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571232" y="4206240"/>
            <a:ext cx="438912" cy="438912"/>
          </a:xfrm>
          <a:prstGeom prst="ellipse">
            <a:avLst/>
          </a:prstGeom>
          <a:solidFill>
            <a:srgbClr val="496B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571232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83880" y="420624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</a:rPr>
              <a:t>Change theme values and show next-frame effect (UC-4)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7891272" y="5321808"/>
            <a:ext cx="0" cy="45720"/>
          </a:xfrm>
          <a:prstGeom prst="line">
            <a:avLst/>
          </a:prstGeom>
          <a:noFill/>
          <a:ln w="12700">
            <a:solidFill>
              <a:srgbClr val="C3B8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7571232" y="4974336"/>
            <a:ext cx="438912" cy="438912"/>
          </a:xfrm>
          <a:prstGeom prst="ellipse">
            <a:avLst/>
          </a:prstGeom>
          <a:solidFill>
            <a:srgbClr val="496B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571232" y="506577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83880" y="4974336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</a:rPr>
              <a:t>Open test logs / report / traceability / delta docs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7571232" y="559612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 requirement: show at least one flow for each scoped use-case family (UC-2, UC-3, UC-4).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Lifecycle traceability and team ownership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presented as a full SDLC story, not only a code demo.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30352" y="1207008"/>
            <a:ext cx="6583680" cy="1993392"/>
          </a:xfrm>
          <a:prstGeom prst="roundRect">
            <a:avLst>
              <a:gd name="adj" fmla="val 2752"/>
            </a:avLst>
          </a:prstGeom>
          <a:solidFill>
            <a:srgbClr val="F1ECD2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444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Traceable lifecycle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7824" y="1947672"/>
            <a:ext cx="1088136" cy="603504"/>
          </a:xfrm>
          <a:prstGeom prst="chevron">
            <a:avLst/>
          </a:prstGeom>
          <a:solidFill>
            <a:srgbClr val="E7DFC7"/>
          </a:solidFill>
          <a:ln w="12700">
            <a:solidFill>
              <a:srgbClr val="C7BD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941832" y="204825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22222"/>
                </a:solidFill>
              </a:rPr>
              <a:t>Planning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50392" y="25968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Project plan, backlog, sprint goal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02536" y="1947672"/>
            <a:ext cx="1088136" cy="603504"/>
          </a:xfrm>
          <a:prstGeom prst="chevron">
            <a:avLst/>
          </a:prstGeom>
          <a:solidFill>
            <a:srgbClr val="D9D59B"/>
          </a:solidFill>
          <a:ln w="12700">
            <a:solidFill>
              <a:srgbClr val="C7BD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066544" y="204825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22222"/>
                </a:solidFill>
              </a:rPr>
              <a:t>Requirements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975104" y="25968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SRS use cases and NFR constraints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27248" y="1947672"/>
            <a:ext cx="1088136" cy="603504"/>
          </a:xfrm>
          <a:prstGeom prst="chevron">
            <a:avLst/>
          </a:prstGeom>
          <a:solidFill>
            <a:srgbClr val="E7DFC7"/>
          </a:solidFill>
          <a:ln w="12700">
            <a:solidFill>
              <a:srgbClr val="C7BD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191256" y="204825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22222"/>
                </a:solidFill>
              </a:rPr>
              <a:t>Design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099816" y="25968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Architecture + UML + SDD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1947672"/>
            <a:ext cx="1088136" cy="603504"/>
          </a:xfrm>
          <a:prstGeom prst="chevron">
            <a:avLst/>
          </a:prstGeom>
          <a:solidFill>
            <a:srgbClr val="D9D59B"/>
          </a:solidFill>
          <a:ln w="12700">
            <a:solidFill>
              <a:srgbClr val="C7BD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315968" y="204825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22222"/>
                </a:solidFill>
              </a:rPr>
              <a:t>Implementation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224528" y="25968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ANSI C core + SDL2 demo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76672" y="1947672"/>
            <a:ext cx="1088136" cy="603504"/>
          </a:xfrm>
          <a:prstGeom prst="chevron">
            <a:avLst/>
          </a:prstGeom>
          <a:solidFill>
            <a:srgbClr val="E7DFC7"/>
          </a:solidFill>
          <a:ln w="12700">
            <a:solidFill>
              <a:srgbClr val="C7BD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440680" y="204825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22222"/>
                </a:solidFill>
              </a:rPr>
              <a:t>Test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349240" y="25968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Report, logs, quality matrix, traceability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1207008"/>
            <a:ext cx="4315968" cy="1993392"/>
          </a:xfrm>
          <a:prstGeom prst="roundRect">
            <a:avLst>
              <a:gd name="adj" fmla="val 2752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7607808" y="1444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Scoped demo scenarios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07808" y="1901952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9F2F4E"/>
          </a:solidFill>
          <a:ln w="12700">
            <a:solidFill>
              <a:srgbClr val="9F2F4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607808" y="194767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UC-2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375904" y="19110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22222"/>
                </a:solidFill>
              </a:rPr>
              <a:t>build UI → command buffer → renderer callback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7607808" y="2340864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9F2F4E"/>
          </a:solidFill>
          <a:ln w="12700">
            <a:solidFill>
              <a:srgbClr val="9F2F4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607808" y="238658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UC-3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375904" y="235000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22222"/>
                </a:solidFill>
              </a:rPr>
              <a:t>interactive controls and returned signal flags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7607808" y="2779776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9F2F4E"/>
          </a:solidFill>
          <a:ln w="12700">
            <a:solidFill>
              <a:srgbClr val="9F2F4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607808" y="282549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UC-4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375904" y="278892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22222"/>
                </a:solidFill>
              </a:rPr>
              <a:t>runtime theme mutation reflected next frame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530352" y="3520440"/>
            <a:ext cx="11100816" cy="2578608"/>
          </a:xfrm>
          <a:prstGeom prst="roundRect">
            <a:avLst>
              <a:gd name="adj" fmla="val 2128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822960" y="3767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Team contribution view (from task matrices)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68680" y="41605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6F1DE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1014984" y="43799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22222"/>
                </a:solidFill>
              </a:rPr>
              <a:t>Ahmet Batuhan Günal</a:t>
            </a:r>
            <a:endParaRPr lang="en-US" sz="1480" dirty="0"/>
          </a:p>
        </p:txBody>
      </p:sp>
      <p:sp>
        <p:nvSpPr>
          <p:cNvPr id="36" name="Text 34"/>
          <p:cNvSpPr/>
          <p:nvPr/>
        </p:nvSpPr>
        <p:spPr>
          <a:xfrm>
            <a:off x="1014984" y="464515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666666"/>
                </a:solidFill>
              </a:rPr>
              <a:t>System overview, system context, runtime theme test, commit/cancel evidence.</a:t>
            </a:r>
            <a:endParaRPr lang="en-US" sz="1190" dirty="0"/>
          </a:p>
        </p:txBody>
      </p:sp>
      <p:sp>
        <p:nvSpPr>
          <p:cNvPr id="37" name="Shape 35"/>
          <p:cNvSpPr/>
          <p:nvPr/>
        </p:nvSpPr>
        <p:spPr>
          <a:xfrm>
            <a:off x="4480560" y="41605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6F1DE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626864" y="43799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22222"/>
                </a:solidFill>
              </a:rPr>
              <a:t>Archyn Mikhailov</a:t>
            </a:r>
            <a:endParaRPr lang="en-US" sz="1480" dirty="0"/>
          </a:p>
        </p:txBody>
      </p:sp>
      <p:sp>
        <p:nvSpPr>
          <p:cNvPr id="39" name="Text 37"/>
          <p:cNvSpPr/>
          <p:nvPr/>
        </p:nvSpPr>
        <p:spPr>
          <a:xfrm>
            <a:off x="4626864" y="464515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666666"/>
                </a:solidFill>
              </a:rPr>
              <a:t>Architecture, component/data design, traceability focus, keyboard &amp; command-pipeline evidence.</a:t>
            </a:r>
            <a:endParaRPr lang="en-US" sz="1190" dirty="0"/>
          </a:p>
        </p:txBody>
      </p:sp>
      <p:sp>
        <p:nvSpPr>
          <p:cNvPr id="40" name="Shape 38"/>
          <p:cNvSpPr/>
          <p:nvPr/>
        </p:nvSpPr>
        <p:spPr>
          <a:xfrm>
            <a:off x="8092440" y="41605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6F1DE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8238744" y="43799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22222"/>
                </a:solidFill>
              </a:rPr>
              <a:t>Tuna Kömürcü</a:t>
            </a:r>
            <a:endParaRPr lang="en-US" sz="1480" dirty="0"/>
          </a:p>
        </p:txBody>
      </p:sp>
      <p:sp>
        <p:nvSpPr>
          <p:cNvPr id="42" name="Text 40"/>
          <p:cNvSpPr/>
          <p:nvPr/>
        </p:nvSpPr>
        <p:spPr>
          <a:xfrm>
            <a:off x="8238744" y="464515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666666"/>
                </a:solidFill>
              </a:rPr>
              <a:t>Implementation notes, UI/deployment/testability sections, demo build evidence, strict compile checks.</a:t>
            </a:r>
            <a:endParaRPr lang="en-US" sz="1190" dirty="0"/>
          </a:p>
        </p:txBody>
      </p:sp>
      <p:sp>
        <p:nvSpPr>
          <p:cNvPr id="43" name="Text 41"/>
          <p:cNvSpPr/>
          <p:nvPr/>
        </p:nvSpPr>
        <p:spPr>
          <a:xfrm>
            <a:off x="841248" y="5779008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i="1" dirty="0">
                <a:solidFill>
                  <a:srgbClr val="666666"/>
                </a:solidFill>
              </a:rPr>
              <a:t>During the live demo, open git history separately to show per-member commits; this deck only summarizes the documented task split.</a:t>
            </a:r>
            <a:endParaRPr lang="en-US" sz="10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Top-level architecture and deployment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architecture + modular monolith + immediate-mode pipeline.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7498080" cy="4937760"/>
          </a:xfrm>
          <a:prstGeom prst="roundRect">
            <a:avLst>
              <a:gd name="adj" fmla="val 1111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mnt/data/compon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90" y="1481328"/>
            <a:ext cx="6123573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554126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6666"/>
                </a:solidFill>
              </a:rPr>
              <a:t>Host application feeds input and owns the renderer; Origami stays embeddable and dependency-free in the core.</a:t>
            </a:r>
            <a:endParaRPr lang="en-US" sz="1160" dirty="0"/>
          </a:p>
        </p:txBody>
      </p:sp>
      <p:sp>
        <p:nvSpPr>
          <p:cNvPr id="7" name="Shape 4"/>
          <p:cNvSpPr/>
          <p:nvPr/>
        </p:nvSpPr>
        <p:spPr>
          <a:xfrm>
            <a:off x="8183880" y="1207008"/>
            <a:ext cx="3493008" cy="2084832"/>
          </a:xfrm>
          <a:prstGeom prst="roundRect">
            <a:avLst>
              <a:gd name="adj" fmla="val 2632"/>
            </a:avLst>
          </a:prstGeom>
          <a:solidFill>
            <a:srgbClr val="F6F1DE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8467344" y="1444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b="1" dirty="0">
                <a:solidFill>
                  <a:srgbClr val="9F2F4E"/>
                </a:solidFill>
              </a:rPr>
              <a:t>Architecture takeaways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8412480" y="1783080"/>
            <a:ext cx="28803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API → widgets/layout → core services → command buffer → host renderer
</a:t>
            </a:r>
            <a:r>
              <a:rPr lang="en-US" sz="13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two distributed core files: origami.h + origami.c
</a:t>
            </a:r>
            <a:r>
              <a:rPr lang="en-US" sz="13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dynamic allocation inside the library context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8183880" y="3566160"/>
            <a:ext cx="3493008" cy="2578608"/>
          </a:xfrm>
          <a:prstGeom prst="roundRect">
            <a:avLst>
              <a:gd name="adj" fmla="val 2128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8467344" y="3803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0" b="1" dirty="0">
                <a:solidFill>
                  <a:srgbClr val="9F2F4E"/>
                </a:solidFill>
              </a:rPr>
              <a:t>Typical deployment</a:t>
            </a:r>
            <a:endParaRPr lang="en-US" sz="1740" dirty="0"/>
          </a:p>
        </p:txBody>
      </p:sp>
      <p:pic>
        <p:nvPicPr>
          <p:cNvPr id="12" name="Image 1" descr="/mnt/data/deploymen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4115291"/>
            <a:ext cx="3063240" cy="13157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4192" y="55961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</a:rPr>
              <a:t>Single-machine setup: application binary links the Origami library and calls the graphics API through its host renderer.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pattern views: class + sequence UML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diagrams explain the API surface, data structures, and one-frame execution flow.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617720" cy="4892040"/>
          </a:xfrm>
          <a:prstGeom prst="roundRect">
            <a:avLst>
              <a:gd name="adj" fmla="val 1188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mnt/data/clas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853" y="1481328"/>
            <a:ext cx="3071855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55778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Class view: API surface, ou_context, theme, command union, and key data structures.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40096" y="1234440"/>
            <a:ext cx="6336792" cy="4892040"/>
          </a:xfrm>
          <a:prstGeom prst="roundRect">
            <a:avLst>
              <a:gd name="adj" fmla="val 1121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1" descr="/mnt/data/sequenc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924" y="1481328"/>
            <a:ext cx="5011993" cy="4069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14416" y="55778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Sequence view: input feed → frame begin → control calls → append commands → walk callback → draw.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factors and measurable criteria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factor is tied to a target value, measured snapshot, requirement reference, and executed test.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475488" y="1115568"/>
            <a:ext cx="11228832" cy="5440680"/>
          </a:xfrm>
          <a:prstGeom prst="roundRect">
            <a:avLst>
              <a:gd name="adj" fmla="val 1008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76656" y="1426464"/>
            <a:ext cx="1965960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22376" y="1463040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factor</a:t>
            </a:r>
            <a:endParaRPr lang="en-US" sz="1090" dirty="0"/>
          </a:p>
        </p:txBody>
      </p:sp>
      <p:sp>
        <p:nvSpPr>
          <p:cNvPr id="7" name="Shape 5"/>
          <p:cNvSpPr/>
          <p:nvPr/>
        </p:nvSpPr>
        <p:spPr>
          <a:xfrm>
            <a:off x="2642616" y="1426464"/>
            <a:ext cx="2450592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688336" y="1463040"/>
            <a:ext cx="23591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+ target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5093208" y="1426464"/>
            <a:ext cx="2697480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138928" y="1463040"/>
            <a:ext cx="2606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snapshot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7790688" y="1426464"/>
            <a:ext cx="1371600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836408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 / test</a:t>
            </a:r>
            <a:endParaRPr lang="en-US" sz="1090" dirty="0"/>
          </a:p>
        </p:txBody>
      </p:sp>
      <p:sp>
        <p:nvSpPr>
          <p:cNvPr id="13" name="Shape 11"/>
          <p:cNvSpPr/>
          <p:nvPr/>
        </p:nvSpPr>
        <p:spPr>
          <a:xfrm>
            <a:off x="9162288" y="1426464"/>
            <a:ext cx="786384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208008" y="1463040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90" dirty="0"/>
          </a:p>
        </p:txBody>
      </p:sp>
      <p:sp>
        <p:nvSpPr>
          <p:cNvPr id="15" name="Shape 13"/>
          <p:cNvSpPr/>
          <p:nvPr/>
        </p:nvSpPr>
        <p:spPr>
          <a:xfrm>
            <a:off x="676656" y="1810512"/>
            <a:ext cx="196596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22376" y="1847088"/>
            <a:ext cx="18745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correctness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42616" y="1810512"/>
            <a:ext cx="2450592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688336" y="1847088"/>
            <a:ext cx="23591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build + launch smoke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build succeeds and app launches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093208" y="1810512"/>
            <a:ext cx="269748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138928" y="1847088"/>
            <a:ext cx="2606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passed; launch started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(STARTED_AND_KILLED)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7790688" y="1810512"/>
            <a:ext cx="137160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7836408" y="1847088"/>
            <a:ext cx="1280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UC-2, E-1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TC-01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9162288" y="1810512"/>
            <a:ext cx="786384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208008" y="1847088"/>
            <a:ext cx="6949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676656" y="2377440"/>
            <a:ext cx="196596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22376" y="2414016"/>
            <a:ext cx="18745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correctness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2642616" y="2377440"/>
            <a:ext cx="2450592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688336" y="2414016"/>
            <a:ext cx="23591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traversal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implemented and testable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5093208" y="2377440"/>
            <a:ext cx="269748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138928" y="2414016"/>
            <a:ext cx="2606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Tab/Shift+Tab not implemented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current code path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7790688" y="2377440"/>
            <a:ext cx="137160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7836408" y="2414016"/>
            <a:ext cx="1280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UC-3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TC-02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9162288" y="2377440"/>
            <a:ext cx="786384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9208008" y="2414016"/>
            <a:ext cx="6949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Pass*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676656" y="2944368"/>
            <a:ext cx="196596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722376" y="2980944"/>
            <a:ext cx="18745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correctness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2642616" y="2944368"/>
            <a:ext cx="2450592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2688336" y="2980944"/>
            <a:ext cx="23591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/ cancel keys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Enter + Escape verified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5093208" y="2944368"/>
            <a:ext cx="269748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138928" y="2980944"/>
            <a:ext cx="2606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present; Escape dismissal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explicit</a:t>
            </a:r>
            <a:endParaRPr lang="en-US" sz="1070" dirty="0"/>
          </a:p>
        </p:txBody>
      </p:sp>
      <p:sp>
        <p:nvSpPr>
          <p:cNvPr id="41" name="Shape 39"/>
          <p:cNvSpPr/>
          <p:nvPr/>
        </p:nvSpPr>
        <p:spPr>
          <a:xfrm>
            <a:off x="7790688" y="2944368"/>
            <a:ext cx="1371600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7836408" y="2980944"/>
            <a:ext cx="1280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UC-3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TC-03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9162288" y="2944368"/>
            <a:ext cx="786384" cy="56692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9208008" y="2980944"/>
            <a:ext cx="6949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Pass*</a:t>
            </a:r>
            <a:endParaRPr lang="en-US" sz="1070" dirty="0"/>
          </a:p>
        </p:txBody>
      </p:sp>
      <p:sp>
        <p:nvSpPr>
          <p:cNvPr id="45" name="Shape 43"/>
          <p:cNvSpPr/>
          <p:nvPr/>
        </p:nvSpPr>
        <p:spPr>
          <a:xfrm>
            <a:off x="676656" y="3511296"/>
            <a:ext cx="196596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22376" y="3547872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Rendering reliability</a:t>
            </a:r>
            <a:endParaRPr lang="en-US" sz="1070" dirty="0"/>
          </a:p>
        </p:txBody>
      </p:sp>
      <p:sp>
        <p:nvSpPr>
          <p:cNvPr id="47" name="Shape 45"/>
          <p:cNvSpPr/>
          <p:nvPr/>
        </p:nvSpPr>
        <p:spPr>
          <a:xfrm>
            <a:off x="2642616" y="3511296"/>
            <a:ext cx="2450592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2688336" y="3547872"/>
            <a:ext cx="23591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ou_walk() integration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pass</a:t>
            </a:r>
            <a:endParaRPr lang="en-US" sz="1070" dirty="0"/>
          </a:p>
        </p:txBody>
      </p:sp>
      <p:sp>
        <p:nvSpPr>
          <p:cNvPr id="49" name="Shape 47"/>
          <p:cNvSpPr/>
          <p:nvPr/>
        </p:nvSpPr>
        <p:spPr>
          <a:xfrm>
            <a:off x="5093208" y="3511296"/>
            <a:ext cx="269748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5138928" y="3547872"/>
            <a:ext cx="2606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51" name="Shape 49"/>
          <p:cNvSpPr/>
          <p:nvPr/>
        </p:nvSpPr>
        <p:spPr>
          <a:xfrm>
            <a:off x="7790688" y="3511296"/>
            <a:ext cx="137160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7836408" y="3547872"/>
            <a:ext cx="1280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UC-2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TC-04</a:t>
            </a:r>
            <a:endParaRPr lang="en-US" sz="1070" dirty="0"/>
          </a:p>
        </p:txBody>
      </p:sp>
      <p:sp>
        <p:nvSpPr>
          <p:cNvPr id="53" name="Shape 51"/>
          <p:cNvSpPr/>
          <p:nvPr/>
        </p:nvSpPr>
        <p:spPr>
          <a:xfrm>
            <a:off x="9162288" y="3511296"/>
            <a:ext cx="786384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9208008" y="3547872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55" name="Shape 53"/>
          <p:cNvSpPr/>
          <p:nvPr/>
        </p:nvSpPr>
        <p:spPr>
          <a:xfrm>
            <a:off x="676656" y="3895344"/>
            <a:ext cx="1965960" cy="438912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722376" y="3931920"/>
            <a:ext cx="1874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quality</a:t>
            </a:r>
            <a:endParaRPr lang="en-US" sz="1070" dirty="0"/>
          </a:p>
        </p:txBody>
      </p:sp>
      <p:sp>
        <p:nvSpPr>
          <p:cNvPr id="57" name="Shape 55"/>
          <p:cNvSpPr/>
          <p:nvPr/>
        </p:nvSpPr>
        <p:spPr>
          <a:xfrm>
            <a:off x="2642616" y="3895344"/>
            <a:ext cx="2450592" cy="438912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2688336" y="3931920"/>
            <a:ext cx="23591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GCC + Clang compile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both compilers</a:t>
            </a:r>
            <a:endParaRPr lang="en-US" sz="1070" dirty="0"/>
          </a:p>
        </p:txBody>
      </p:sp>
      <p:sp>
        <p:nvSpPr>
          <p:cNvPr id="59" name="Shape 57"/>
          <p:cNvSpPr/>
          <p:nvPr/>
        </p:nvSpPr>
        <p:spPr>
          <a:xfrm>
            <a:off x="5093208" y="3895344"/>
            <a:ext cx="2697480" cy="438912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5138928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GCC pass; Clang unavailable</a:t>
            </a:r>
            <a:endParaRPr lang="en-US" sz="1070" dirty="0"/>
          </a:p>
        </p:txBody>
      </p:sp>
      <p:sp>
        <p:nvSpPr>
          <p:cNvPr id="61" name="Shape 59"/>
          <p:cNvSpPr/>
          <p:nvPr/>
        </p:nvSpPr>
        <p:spPr>
          <a:xfrm>
            <a:off x="7790688" y="3895344"/>
            <a:ext cx="1371600" cy="438912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7836408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TC-05</a:t>
            </a:r>
            <a:endParaRPr lang="en-US" sz="1070" dirty="0"/>
          </a:p>
        </p:txBody>
      </p:sp>
      <p:sp>
        <p:nvSpPr>
          <p:cNvPr id="63" name="Shape 61"/>
          <p:cNvSpPr/>
          <p:nvPr/>
        </p:nvSpPr>
        <p:spPr>
          <a:xfrm>
            <a:off x="9162288" y="3895344"/>
            <a:ext cx="786384" cy="438912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9208008" y="3931920"/>
            <a:ext cx="6949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</a:t>
            </a:r>
            <a:endParaRPr lang="en-US" sz="1070" dirty="0"/>
          </a:p>
        </p:txBody>
      </p:sp>
      <p:sp>
        <p:nvSpPr>
          <p:cNvPr id="65" name="Shape 63"/>
          <p:cNvSpPr/>
          <p:nvPr/>
        </p:nvSpPr>
        <p:spPr>
          <a:xfrm>
            <a:off x="676656" y="4334256"/>
            <a:ext cx="196596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722376" y="4370832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configurability</a:t>
            </a:r>
            <a:endParaRPr lang="en-US" sz="1070" dirty="0"/>
          </a:p>
        </p:txBody>
      </p:sp>
      <p:sp>
        <p:nvSpPr>
          <p:cNvPr id="67" name="Shape 65"/>
          <p:cNvSpPr/>
          <p:nvPr/>
        </p:nvSpPr>
        <p:spPr>
          <a:xfrm>
            <a:off x="2642616" y="4334256"/>
            <a:ext cx="2450592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2688336" y="4370832"/>
            <a:ext cx="23591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mutation next frame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pass</a:t>
            </a:r>
            <a:endParaRPr lang="en-US" sz="1070" dirty="0"/>
          </a:p>
        </p:txBody>
      </p:sp>
      <p:sp>
        <p:nvSpPr>
          <p:cNvPr id="69" name="Shape 67"/>
          <p:cNvSpPr/>
          <p:nvPr/>
        </p:nvSpPr>
        <p:spPr>
          <a:xfrm>
            <a:off x="5093208" y="4334256"/>
            <a:ext cx="269748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5138928" y="4370832"/>
            <a:ext cx="2606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71" name="Shape 69"/>
          <p:cNvSpPr/>
          <p:nvPr/>
        </p:nvSpPr>
        <p:spPr>
          <a:xfrm>
            <a:off x="7790688" y="4334256"/>
            <a:ext cx="137160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Text 70"/>
          <p:cNvSpPr/>
          <p:nvPr/>
        </p:nvSpPr>
        <p:spPr>
          <a:xfrm>
            <a:off x="7836408" y="4370832"/>
            <a:ext cx="1280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UC-4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TC-06</a:t>
            </a:r>
            <a:endParaRPr lang="en-US" sz="1070" dirty="0"/>
          </a:p>
        </p:txBody>
      </p:sp>
      <p:sp>
        <p:nvSpPr>
          <p:cNvPr id="73" name="Shape 71"/>
          <p:cNvSpPr/>
          <p:nvPr/>
        </p:nvSpPr>
        <p:spPr>
          <a:xfrm>
            <a:off x="9162288" y="4334256"/>
            <a:ext cx="786384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Text 72"/>
          <p:cNvSpPr/>
          <p:nvPr/>
        </p:nvSpPr>
        <p:spPr>
          <a:xfrm>
            <a:off x="9208008" y="4370832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75" name="Shape 73"/>
          <p:cNvSpPr/>
          <p:nvPr/>
        </p:nvSpPr>
        <p:spPr>
          <a:xfrm>
            <a:off x="676656" y="4718304"/>
            <a:ext cx="196596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Text 74"/>
          <p:cNvSpPr/>
          <p:nvPr/>
        </p:nvSpPr>
        <p:spPr>
          <a:xfrm>
            <a:off x="722376" y="4754880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consistency</a:t>
            </a:r>
            <a:endParaRPr lang="en-US" sz="1070" dirty="0"/>
          </a:p>
        </p:txBody>
      </p:sp>
      <p:sp>
        <p:nvSpPr>
          <p:cNvPr id="77" name="Shape 75"/>
          <p:cNvSpPr/>
          <p:nvPr/>
        </p:nvSpPr>
        <p:spPr>
          <a:xfrm>
            <a:off x="2642616" y="4718304"/>
            <a:ext cx="2450592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Text 76"/>
          <p:cNvSpPr/>
          <p:nvPr/>
        </p:nvSpPr>
        <p:spPr>
          <a:xfrm>
            <a:off x="2688336" y="4754880"/>
            <a:ext cx="23591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 check script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DOC_CHECKS_OK</a:t>
            </a:r>
            <a:endParaRPr lang="en-US" sz="1070" dirty="0"/>
          </a:p>
        </p:txBody>
      </p:sp>
      <p:sp>
        <p:nvSpPr>
          <p:cNvPr id="79" name="Shape 77"/>
          <p:cNvSpPr/>
          <p:nvPr/>
        </p:nvSpPr>
        <p:spPr>
          <a:xfrm>
            <a:off x="5093208" y="4718304"/>
            <a:ext cx="269748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Text 78"/>
          <p:cNvSpPr/>
          <p:nvPr/>
        </p:nvSpPr>
        <p:spPr>
          <a:xfrm>
            <a:off x="5138928" y="4754880"/>
            <a:ext cx="2606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DOC_CHECKS_OK</a:t>
            </a:r>
            <a:endParaRPr lang="en-US" sz="1070" dirty="0"/>
          </a:p>
        </p:txBody>
      </p:sp>
      <p:sp>
        <p:nvSpPr>
          <p:cNvPr id="81" name="Shape 79"/>
          <p:cNvSpPr/>
          <p:nvPr/>
        </p:nvSpPr>
        <p:spPr>
          <a:xfrm>
            <a:off x="7790688" y="4718304"/>
            <a:ext cx="1371600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Text 80"/>
          <p:cNvSpPr/>
          <p:nvPr/>
        </p:nvSpPr>
        <p:spPr>
          <a:xfrm>
            <a:off x="7836408" y="4754880"/>
            <a:ext cx="1280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F-3 / SB-08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TC-07</a:t>
            </a:r>
            <a:endParaRPr lang="en-US" sz="1070" dirty="0"/>
          </a:p>
        </p:txBody>
      </p:sp>
      <p:sp>
        <p:nvSpPr>
          <p:cNvPr id="83" name="Shape 81"/>
          <p:cNvSpPr/>
          <p:nvPr/>
        </p:nvSpPr>
        <p:spPr>
          <a:xfrm>
            <a:off x="9162288" y="4718304"/>
            <a:ext cx="786384" cy="38404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Text 82"/>
          <p:cNvSpPr/>
          <p:nvPr/>
        </p:nvSpPr>
        <p:spPr>
          <a:xfrm>
            <a:off x="9208008" y="4754880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85" name="Text 83"/>
          <p:cNvSpPr/>
          <p:nvPr/>
        </p:nvSpPr>
        <p:spPr>
          <a:xfrm>
            <a:off x="749808" y="614476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* In the quality matrix snapshot the evidence line is recorded, but the traceability matrix still keeps UC-3 completeness as open because traversal / Escape are not fully closed.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Recorded test results and report evidence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assignment requires screenshots / logs, test report metadata, and reproducible evidence logs.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3794760" cy="4892040"/>
          </a:xfrm>
          <a:prstGeom prst="roundRect">
            <a:avLst>
              <a:gd name="adj" fmla="val 1446"/>
            </a:avLst>
          </a:prstGeom>
          <a:solidFill>
            <a:srgbClr val="F6F1DE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Execution 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184708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F2F4E"/>
                </a:solidFill>
              </a:rPr>
              <a:t>32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38528" y="18745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</a:rPr>
              <a:t>Unity tests executed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59536" y="2267712"/>
            <a:ext cx="2834640" cy="0"/>
          </a:xfrm>
          <a:prstGeom prst="line">
            <a:avLst/>
          </a:prstGeom>
          <a:noFill/>
          <a:ln w="12700">
            <a:solidFill>
              <a:srgbClr val="D2C7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96112" y="259689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F2F4E"/>
                </a:solidFill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38528" y="26243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</a:rPr>
              <a:t>Failures / ignored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59536" y="3017520"/>
            <a:ext cx="2834640" cy="0"/>
          </a:xfrm>
          <a:prstGeom prst="line">
            <a:avLst/>
          </a:prstGeom>
          <a:noFill/>
          <a:ln w="12700">
            <a:solidFill>
              <a:srgbClr val="D2C7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96112" y="334670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F2F4E"/>
                </a:solidFill>
              </a:rPr>
              <a:t>6 / 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38528" y="33741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</a:rPr>
              <a:t>Pass / blocked scenario tests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59536" y="3767328"/>
            <a:ext cx="2834640" cy="0"/>
          </a:xfrm>
          <a:prstGeom prst="line">
            <a:avLst/>
          </a:prstGeom>
          <a:noFill/>
          <a:ln w="12700">
            <a:solidFill>
              <a:srgbClr val="D2C7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96112" y="409651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2F4E"/>
                </a:solidFill>
              </a:rPr>
              <a:t>2026-04-02 → 04-09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38528" y="41239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</a:rPr>
              <a:t>Execution window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59536" y="4517136"/>
            <a:ext cx="2834640" cy="0"/>
          </a:xfrm>
          <a:prstGeom prst="line">
            <a:avLst/>
          </a:prstGeom>
          <a:noFill/>
          <a:ln w="12700">
            <a:solidFill>
              <a:srgbClr val="D2C7B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68680" y="51023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Environment: Windows PowerShell, GCC 15.2.0, Unity framework, SDL2 demo dependency.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53712" y="1225296"/>
            <a:ext cx="3364992" cy="4892040"/>
          </a:xfrm>
          <a:prstGeom prst="roundRect">
            <a:avLst>
              <a:gd name="adj" fmla="val 1630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828032" y="1481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Evidence log excerpts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91456" y="1847088"/>
            <a:ext cx="2880360" cy="3611880"/>
          </a:xfrm>
          <a:prstGeom prst="roundRect">
            <a:avLst>
              <a:gd name="adj" fmla="val 127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974336" y="2048256"/>
            <a:ext cx="2514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Tests 0 Failures 0 Ignored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Result: STRICT_COMPILE_OK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clang_not_available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ExitCode: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Result: STARTED_AND_KILLED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DOC_CHECKS_OK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1225296"/>
            <a:ext cx="3520440" cy="4892040"/>
          </a:xfrm>
          <a:prstGeom prst="roundRect">
            <a:avLst>
              <a:gd name="adj" fmla="val 1558"/>
            </a:avLst>
          </a:prstGeom>
          <a:solidFill>
            <a:srgbClr val="F8F3E5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94192" y="14813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Scenario-level report table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75904" y="1847088"/>
            <a:ext cx="768096" cy="365760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421624" y="1883664"/>
            <a:ext cx="6766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1847088"/>
            <a:ext cx="1481328" cy="365760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9189720" y="1883664"/>
            <a:ext cx="13898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625328" y="1847088"/>
            <a:ext cx="658368" cy="365760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10671048" y="1883664"/>
            <a:ext cx="5669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75904" y="2212848"/>
            <a:ext cx="768096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421624" y="2249424"/>
            <a:ext cx="6766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TC-01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144000" y="2212848"/>
            <a:ext cx="148132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9189720" y="2249424"/>
            <a:ext cx="138988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smoke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10625328" y="2212848"/>
            <a:ext cx="65836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0671048" y="2249424"/>
            <a:ext cx="5669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375904" y="2523744"/>
            <a:ext cx="768096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8421624" y="2560320"/>
            <a:ext cx="6766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TC-02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9144000" y="2523744"/>
            <a:ext cx="148132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9189720" y="2560320"/>
            <a:ext cx="138988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traversal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10625328" y="2523744"/>
            <a:ext cx="65836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10671048" y="2560320"/>
            <a:ext cx="5669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Pass*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375904" y="2834640"/>
            <a:ext cx="768096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8421624" y="2871216"/>
            <a:ext cx="6766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TC-03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9144000" y="2834640"/>
            <a:ext cx="148132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9189720" y="2871216"/>
            <a:ext cx="138988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/ cancel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10625328" y="2834640"/>
            <a:ext cx="65836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10671048" y="2871216"/>
            <a:ext cx="5669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Pass*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8375904" y="3145536"/>
            <a:ext cx="768096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8421624" y="3182112"/>
            <a:ext cx="6766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TC-04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9144000" y="3145536"/>
            <a:ext cx="148132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9189720" y="3182112"/>
            <a:ext cx="138988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walk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10625328" y="3145536"/>
            <a:ext cx="65836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10671048" y="3182112"/>
            <a:ext cx="5669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8375904" y="3456432"/>
            <a:ext cx="768096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8421624" y="3493008"/>
            <a:ext cx="6766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TC-05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9144000" y="3456432"/>
            <a:ext cx="148132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9189720" y="3493008"/>
            <a:ext cx="138988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compile</a:t>
            </a:r>
            <a:endParaRPr lang="en-US" sz="1080" dirty="0"/>
          </a:p>
        </p:txBody>
      </p:sp>
      <p:sp>
        <p:nvSpPr>
          <p:cNvPr id="59" name="Shape 57"/>
          <p:cNvSpPr/>
          <p:nvPr/>
        </p:nvSpPr>
        <p:spPr>
          <a:xfrm>
            <a:off x="10625328" y="3456432"/>
            <a:ext cx="65836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10671048" y="3493008"/>
            <a:ext cx="5669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8375904" y="3767328"/>
            <a:ext cx="768096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8421624" y="3803904"/>
            <a:ext cx="6766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TC-06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9144000" y="3767328"/>
            <a:ext cx="148132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9189720" y="3803904"/>
            <a:ext cx="138988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update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10625328" y="3767328"/>
            <a:ext cx="65836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10671048" y="3803904"/>
            <a:ext cx="5669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80" dirty="0"/>
          </a:p>
        </p:txBody>
      </p:sp>
      <p:sp>
        <p:nvSpPr>
          <p:cNvPr id="67" name="Shape 65"/>
          <p:cNvSpPr/>
          <p:nvPr/>
        </p:nvSpPr>
        <p:spPr>
          <a:xfrm>
            <a:off x="8375904" y="4078224"/>
            <a:ext cx="768096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8421624" y="4114800"/>
            <a:ext cx="6766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TC-07</a:t>
            </a:r>
            <a:endParaRPr lang="en-US" sz="1080" dirty="0"/>
          </a:p>
        </p:txBody>
      </p:sp>
      <p:sp>
        <p:nvSpPr>
          <p:cNvPr id="69" name="Shape 67"/>
          <p:cNvSpPr/>
          <p:nvPr/>
        </p:nvSpPr>
        <p:spPr>
          <a:xfrm>
            <a:off x="9144000" y="4078224"/>
            <a:ext cx="148132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9189720" y="4114800"/>
            <a:ext cx="138988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 consistency</a:t>
            </a:r>
            <a:endParaRPr lang="en-US" sz="1080" dirty="0"/>
          </a:p>
        </p:txBody>
      </p:sp>
      <p:sp>
        <p:nvSpPr>
          <p:cNvPr id="71" name="Shape 69"/>
          <p:cNvSpPr/>
          <p:nvPr/>
        </p:nvSpPr>
        <p:spPr>
          <a:xfrm>
            <a:off x="10625328" y="4078224"/>
            <a:ext cx="658368" cy="310896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Text 70"/>
          <p:cNvSpPr/>
          <p:nvPr/>
        </p:nvSpPr>
        <p:spPr>
          <a:xfrm>
            <a:off x="10671048" y="4114800"/>
            <a:ext cx="5669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80" dirty="0"/>
          </a:p>
        </p:txBody>
      </p:sp>
      <p:sp>
        <p:nvSpPr>
          <p:cNvPr id="73" name="Text 71"/>
          <p:cNvSpPr/>
          <p:nvPr/>
        </p:nvSpPr>
        <p:spPr>
          <a:xfrm>
            <a:off x="8375904" y="47731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</a:rPr>
              <a:t>Test report fields captured: tester, date, steps, expected result, environment, log path, status, notes.</a:t>
            </a:r>
            <a:endParaRPr lang="en-US" sz="1120" dirty="0"/>
          </a:p>
        </p:txBody>
      </p:sp>
      <p:sp>
        <p:nvSpPr>
          <p:cNvPr id="74" name="Text 72"/>
          <p:cNvSpPr/>
          <p:nvPr/>
        </p:nvSpPr>
        <p:spPr>
          <a:xfrm>
            <a:off x="8375904" y="5486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* The evidence exists, but functional completeness remains open in traceability for UC-3.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Traceability from requirement to test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shows that the selected demo scenario is linked to backlog, sprint task, and executed evidence.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12064" y="1225296"/>
            <a:ext cx="6766560" cy="4937760"/>
          </a:xfrm>
          <a:prstGeom prst="roundRect">
            <a:avLst>
              <a:gd name="adj" fmla="val 1111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31520" y="1609344"/>
            <a:ext cx="2926080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834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/ objective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657600" y="1609344"/>
            <a:ext cx="1005840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703320" y="1645920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task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63440" y="1609344"/>
            <a:ext cx="1051560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09160" y="1645920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715000" y="1609344"/>
            <a:ext cx="1051560" cy="384048"/>
          </a:xfrm>
          <a:prstGeom prst="rect">
            <a:avLst/>
          </a:prstGeom>
          <a:solidFill>
            <a:srgbClr val="9F2F4E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760720" y="1645920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31520" y="1993392"/>
            <a:ext cx="292608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77240" y="2029968"/>
            <a:ext cx="28346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UC-2 command pipeline walk/render validity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3657600" y="1993392"/>
            <a:ext cx="100584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703320" y="2029968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SB-04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663440" y="1993392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709160" y="2029968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TC-04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715000" y="1993392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760720" y="2029968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731520" y="2468880"/>
            <a:ext cx="292608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777240" y="2505456"/>
            <a:ext cx="28346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UC-2 demo deliverable build/run closure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3657600" y="2468880"/>
            <a:ext cx="100584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703320" y="2505456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SB-03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4663440" y="2468880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09160" y="2505456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TC-01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5715000" y="2468880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760720" y="2505456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731520" y="2944368"/>
            <a:ext cx="292608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77240" y="2980944"/>
            <a:ext cx="28346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UC-3 keyboard and focus completeness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3657600" y="2944368"/>
            <a:ext cx="100584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703320" y="2980944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SB-02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4663440" y="2944368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709160" y="2980944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TC-02, TC-03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5715000" y="2944368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6" name="Text 34"/>
          <p:cNvSpPr/>
          <p:nvPr/>
        </p:nvSpPr>
        <p:spPr>
          <a:xfrm>
            <a:off x="5760720" y="2980944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tr-TR" sz="107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731520" y="3419856"/>
            <a:ext cx="292608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777240" y="3456432"/>
            <a:ext cx="28346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UC-4 runtime theme update behavior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3657600" y="3419856"/>
            <a:ext cx="100584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3703320" y="3456432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SB-01</a:t>
            </a:r>
            <a:endParaRPr lang="en-US" sz="1070" dirty="0"/>
          </a:p>
        </p:txBody>
      </p:sp>
      <p:sp>
        <p:nvSpPr>
          <p:cNvPr id="41" name="Shape 39"/>
          <p:cNvSpPr/>
          <p:nvPr/>
        </p:nvSpPr>
        <p:spPr>
          <a:xfrm>
            <a:off x="4663440" y="3419856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709160" y="3456432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TC-06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5715000" y="3419856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760720" y="3456432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45" name="Shape 43"/>
          <p:cNvSpPr/>
          <p:nvPr/>
        </p:nvSpPr>
        <p:spPr>
          <a:xfrm>
            <a:off x="731520" y="3895344"/>
            <a:ext cx="292608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77240" y="3931920"/>
            <a:ext cx="28346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 strict compile portability</a:t>
            </a:r>
            <a:endParaRPr lang="en-US" sz="1070" dirty="0"/>
          </a:p>
        </p:txBody>
      </p:sp>
      <p:sp>
        <p:nvSpPr>
          <p:cNvPr id="47" name="Shape 45"/>
          <p:cNvSpPr/>
          <p:nvPr/>
        </p:nvSpPr>
        <p:spPr>
          <a:xfrm>
            <a:off x="3657600" y="3895344"/>
            <a:ext cx="100584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3703320" y="3931920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SB-05</a:t>
            </a:r>
            <a:endParaRPr lang="en-US" sz="1070" dirty="0"/>
          </a:p>
        </p:txBody>
      </p:sp>
      <p:sp>
        <p:nvSpPr>
          <p:cNvPr id="49" name="Shape 47"/>
          <p:cNvSpPr/>
          <p:nvPr/>
        </p:nvSpPr>
        <p:spPr>
          <a:xfrm>
            <a:off x="4663440" y="3895344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4709160" y="3931920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TC-05</a:t>
            </a:r>
            <a:endParaRPr lang="en-US" sz="1070" dirty="0"/>
          </a:p>
        </p:txBody>
      </p:sp>
      <p:sp>
        <p:nvSpPr>
          <p:cNvPr id="51" name="Shape 49"/>
          <p:cNvSpPr/>
          <p:nvPr/>
        </p:nvSpPr>
        <p:spPr>
          <a:xfrm>
            <a:off x="5715000" y="3895344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5760720" y="3931920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</a:t>
            </a:r>
            <a:endParaRPr lang="en-US" sz="1070" dirty="0"/>
          </a:p>
        </p:txBody>
      </p:sp>
      <p:sp>
        <p:nvSpPr>
          <p:cNvPr id="53" name="Shape 51"/>
          <p:cNvSpPr/>
          <p:nvPr/>
        </p:nvSpPr>
        <p:spPr>
          <a:xfrm>
            <a:off x="731520" y="4370832"/>
            <a:ext cx="292608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777240" y="4407408"/>
            <a:ext cx="28346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completeness and consistency</a:t>
            </a:r>
            <a:endParaRPr lang="en-US" sz="1070" dirty="0"/>
          </a:p>
        </p:txBody>
      </p:sp>
      <p:sp>
        <p:nvSpPr>
          <p:cNvPr id="55" name="Shape 53"/>
          <p:cNvSpPr/>
          <p:nvPr/>
        </p:nvSpPr>
        <p:spPr>
          <a:xfrm>
            <a:off x="3657600" y="4370832"/>
            <a:ext cx="100584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3703320" y="4407408"/>
            <a:ext cx="914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SB-07 / SB-08</a:t>
            </a:r>
            <a:endParaRPr lang="en-US" sz="1070" dirty="0"/>
          </a:p>
        </p:txBody>
      </p:sp>
      <p:sp>
        <p:nvSpPr>
          <p:cNvPr id="57" name="Shape 55"/>
          <p:cNvSpPr/>
          <p:nvPr/>
        </p:nvSpPr>
        <p:spPr>
          <a:xfrm>
            <a:off x="4663440" y="4370832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4709160" y="4407408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TC-07</a:t>
            </a:r>
            <a:endParaRPr lang="en-US" sz="1070" dirty="0"/>
          </a:p>
        </p:txBody>
      </p:sp>
      <p:sp>
        <p:nvSpPr>
          <p:cNvPr id="59" name="Shape 57"/>
          <p:cNvSpPr/>
          <p:nvPr/>
        </p:nvSpPr>
        <p:spPr>
          <a:xfrm>
            <a:off x="5715000" y="4370832"/>
            <a:ext cx="1051560" cy="475488"/>
          </a:xfrm>
          <a:prstGeom prst="rect">
            <a:avLst/>
          </a:prstGeom>
          <a:solidFill>
            <a:srgbClr val="FBF8EC"/>
          </a:solidFill>
          <a:ln w="12700">
            <a:solidFill>
              <a:srgbClr val="C6BCB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5760720" y="4407408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070" dirty="0"/>
          </a:p>
        </p:txBody>
      </p:sp>
      <p:sp>
        <p:nvSpPr>
          <p:cNvPr id="61" name="Text 59"/>
          <p:cNvSpPr/>
          <p:nvPr/>
        </p:nvSpPr>
        <p:spPr>
          <a:xfrm>
            <a:off x="786384" y="565099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6666"/>
                </a:solidFill>
              </a:rPr>
              <a:t>IDs stay stable across report, CSV, logs, and traceability matrix.</a:t>
            </a:r>
            <a:endParaRPr lang="en-US" sz="1080" dirty="0"/>
          </a:p>
        </p:txBody>
      </p:sp>
      <p:sp>
        <p:nvSpPr>
          <p:cNvPr id="62" name="Shape 60"/>
          <p:cNvSpPr/>
          <p:nvPr/>
        </p:nvSpPr>
        <p:spPr>
          <a:xfrm>
            <a:off x="7516368" y="1225296"/>
            <a:ext cx="4114800" cy="2029968"/>
          </a:xfrm>
          <a:prstGeom prst="roundRect">
            <a:avLst>
              <a:gd name="adj" fmla="val 2703"/>
            </a:avLst>
          </a:prstGeom>
          <a:solidFill>
            <a:srgbClr val="F6F1DE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7790688" y="1481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9F2F4E"/>
                </a:solidFill>
              </a:rPr>
              <a:t>What the matrix tells us</a:t>
            </a:r>
            <a:endParaRPr lang="en-US" sz="1730" dirty="0"/>
          </a:p>
        </p:txBody>
      </p:sp>
      <p:sp>
        <p:nvSpPr>
          <p:cNvPr id="64" name="Text 62"/>
          <p:cNvSpPr/>
          <p:nvPr/>
        </p:nvSpPr>
        <p:spPr>
          <a:xfrm>
            <a:off x="7754112" y="1810512"/>
            <a:ext cx="340156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UC-2 and UC-4 are demo-ready with passing evidence.
</a:t>
            </a:r>
            <a:r>
              <a:rPr lang="en-US" sz="13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UC-3 is demonstrable, but full keyboard completeness is still open.
</a:t>
            </a:r>
            <a:r>
              <a:rPr lang="en-US" sz="13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Portability evidence is honest: GCC pass, Clang blocked by environment.</a:t>
            </a:r>
            <a:endParaRPr lang="en-US" sz="1340" dirty="0"/>
          </a:p>
        </p:txBody>
      </p:sp>
      <p:sp>
        <p:nvSpPr>
          <p:cNvPr id="65" name="Shape 63"/>
          <p:cNvSpPr/>
          <p:nvPr/>
        </p:nvSpPr>
        <p:spPr>
          <a:xfrm>
            <a:off x="7516368" y="3584448"/>
            <a:ext cx="4114800" cy="2578608"/>
          </a:xfrm>
          <a:prstGeom prst="roundRect">
            <a:avLst>
              <a:gd name="adj" fmla="val 2128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7790688" y="38221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0" b="1" dirty="0">
                <a:solidFill>
                  <a:srgbClr val="9F2F4E"/>
                </a:solidFill>
              </a:rPr>
              <a:t>Scenario coverage to show live</a:t>
            </a:r>
            <a:endParaRPr lang="en-US" sz="1730" dirty="0"/>
          </a:p>
        </p:txBody>
      </p:sp>
      <p:sp>
        <p:nvSpPr>
          <p:cNvPr id="67" name="Text 65"/>
          <p:cNvSpPr/>
          <p:nvPr/>
        </p:nvSpPr>
        <p:spPr>
          <a:xfrm>
            <a:off x="7754112" y="4169664"/>
            <a:ext cx="3401568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Build + open demo window
</a:t>
            </a:r>
            <a:r>
              <a:rPr lang="en-US" sz="13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Click / type / drag to show returned signals
</a:t>
            </a:r>
            <a:r>
              <a:rPr lang="en-US" sz="13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Walk through draw-command interpretation
</a:t>
            </a:r>
            <a:r>
              <a:rPr lang="en-US" sz="13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Mutate theme and show next-frame visual change
</a:t>
            </a:r>
            <a:r>
              <a:rPr lang="en-US" sz="132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Close with test evidence + open issues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implemented: delta design &amp; implementation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closeout sprint focused on evidence depth, report compliance, and reproducible validation.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12064" y="1225296"/>
            <a:ext cx="7498080" cy="4892040"/>
          </a:xfrm>
          <a:prstGeom prst="roundRect">
            <a:avLst>
              <a:gd name="adj" fmla="val 1121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Selected feedback → implemented delta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1847088"/>
            <a:ext cx="2176272" cy="3154680"/>
          </a:xfrm>
          <a:prstGeom prst="roundRect">
            <a:avLst>
              <a:gd name="adj" fmla="val 2521"/>
            </a:avLst>
          </a:prstGeom>
          <a:solidFill>
            <a:srgbClr val="F8F3E5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969264" y="206654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Automated test evidence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" y="2578608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66666"/>
                </a:solidFill>
              </a:rPr>
              <a:t>Added Unity suite with 29 component tests + 3 integration tests, plus inventory and centralized runner.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236976" y="1847088"/>
            <a:ext cx="2176272" cy="3154680"/>
          </a:xfrm>
          <a:prstGeom prst="roundRect">
            <a:avLst>
              <a:gd name="adj" fmla="val 2521"/>
            </a:avLst>
          </a:prstGeom>
          <a:solidFill>
            <a:srgbClr val="F8F3E5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364992" y="206654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Submission-format alignment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64992" y="2578608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66666"/>
                </a:solidFill>
              </a:rPr>
              <a:t>Standardized report columns, synchronized Markdown + CSV, tightened naming and traceability rules.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632704" y="1847088"/>
            <a:ext cx="2176272" cy="3154680"/>
          </a:xfrm>
          <a:prstGeom prst="roundRect">
            <a:avLst>
              <a:gd name="adj" fmla="val 2521"/>
            </a:avLst>
          </a:prstGeom>
          <a:solidFill>
            <a:srgbClr val="F8F3E5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760720" y="206654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Reproducible build / validation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0" y="2578608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66666"/>
                </a:solidFill>
              </a:rPr>
              <a:t>Stabilized SDL2 smoke build path, logged strict compile evidence, documented blocked Clang path honestly.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841248" y="53583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666666"/>
                </a:solidFill>
              </a:rPr>
              <a:t>Actual effort snapshot: 13.0 hours total across test harness, integration tests, demo compatibility, document alignment, and evidence cleanup.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8229600" y="1225296"/>
            <a:ext cx="3401568" cy="4892040"/>
          </a:xfrm>
          <a:prstGeom prst="roundRect">
            <a:avLst>
              <a:gd name="adj" fmla="val 1613"/>
            </a:avLst>
          </a:prstGeom>
          <a:solidFill>
            <a:srgbClr val="F6F1DE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503920" y="14813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Deferred follow-up items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1847088"/>
            <a:ext cx="269748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Tab / Shift+Tab traversal and close TC-02.
</a:t>
            </a:r>
            <a:r>
              <a:rPr lang="en-US" sz="13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Escape cancellation / dismissal coverage and close TC-03.
</a:t>
            </a:r>
            <a:r>
              <a:rPr lang="en-US" sz="13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strict compile under Clang or add CI job to close TC-05.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8503920" y="3474720"/>
            <a:ext cx="2697480" cy="0"/>
          </a:xfrm>
          <a:prstGeom prst="line">
            <a:avLst/>
          </a:prstGeom>
          <a:noFill/>
          <a:ln w="12700">
            <a:solidFill>
              <a:srgbClr val="CCBF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503920" y="3675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Design impact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3950208"/>
            <a:ext cx="26974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audit trail and more transparent reviewer story.
</a:t>
            </a:r>
            <a:r>
              <a:rPr lang="en-US" sz="125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all status cells are green—but the report is more honest and reproducible.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script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as the handoff from slides to the running application and evidence documents.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5486400" cy="4892040"/>
          </a:xfrm>
          <a:prstGeom prst="roundRect">
            <a:avLst>
              <a:gd name="adj" fmla="val 1121"/>
            </a:avLst>
          </a:prstGeom>
          <a:solidFill>
            <a:srgbClr val="F8F3E5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41248" y="14996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What we do on screen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4736592" cy="3127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repo / terminal and run the demo build command.
</a:t>
            </a:r>
            <a:r>
              <a:rPr lang="en-US" sz="145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the SDL2 window and briefly point at the architecture mapping: input, widgets, command buffer, renderer.
</a:t>
            </a:r>
            <a:r>
              <a:rPr lang="en-US" sz="145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 with a button, input field, checkbox/slider/toggle; mention returned signal flags and focus/hover behavior.
</a:t>
            </a:r>
            <a:r>
              <a:rPr lang="en-US" sz="145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 theme parameter and show the next-frame visual update.
</a:t>
            </a:r>
            <a:r>
              <a:rPr lang="en-US" sz="145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test logs, test report, traceability matrix, and delta report to close the loop.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77824" y="53766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66666"/>
                </a:solidFill>
              </a:rPr>
              <a:t>Keep the live section short and observable: the goal is to prove the scenario, then prove the evidence.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72784" y="1234440"/>
            <a:ext cx="5358384" cy="4892040"/>
          </a:xfrm>
          <a:prstGeom prst="roundRect">
            <a:avLst>
              <a:gd name="adj" fmla="val 1121"/>
            </a:avLst>
          </a:prstGeom>
          <a:solidFill>
            <a:srgbClr val="FBF8EC"/>
          </a:solidFill>
          <a:ln w="12700">
            <a:solidFill>
              <a:srgbClr val="C7BDB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565392" y="1499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2F4E"/>
                </a:solidFill>
              </a:rPr>
              <a:t>Suggested speaking cues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65392" y="1828800"/>
            <a:ext cx="452628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build/run step corresponds to TC-01 and the demo deliverable closure.”
</a:t>
            </a:r>
            <a:r>
              <a:rPr lang="en-US" sz="14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interaction is our UC-3 scenario; signals come back immediately each frame.”
</a:t>
            </a:r>
            <a:r>
              <a:rPr lang="en-US" sz="14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“Here the renderer consumes commands emitted by the library through ou_walk().”
</a:t>
            </a:r>
            <a:r>
              <a:rPr lang="en-US" sz="14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color change demonstrates UC-4: theme mutation affects the next frame output.”
</a:t>
            </a:r>
            <a:r>
              <a:rPr lang="en-US" sz="1440" b="1" dirty="0">
                <a:solidFill>
                  <a:srgbClr val="9F2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4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“Finally, we link the scenario back to logs, report rows, and traceability.”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6565392" y="5084064"/>
            <a:ext cx="4389120" cy="0"/>
          </a:xfrm>
          <a:prstGeom prst="line">
            <a:avLst/>
          </a:prstGeom>
          <a:noFill/>
          <a:ln w="12700">
            <a:solidFill>
              <a:srgbClr val="D0C4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65392" y="526694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i="1" dirty="0">
                <a:solidFill>
                  <a:srgbClr val="666666"/>
                </a:solidFill>
              </a:rPr>
              <a:t>If asked about remaining gaps: keyboard traversal and Escape dismissal are documented as open; Clang validation is environment-blocked.</a:t>
            </a:r>
            <a:endParaRPr lang="en-US" sz="11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</Words>
  <Application>Microsoft Office PowerPoint</Application>
  <PresentationFormat>Widescreen</PresentationFormat>
  <Paragraphs>239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Origami UI — Demo &amp; Validation</dc:title>
  <dc:subject>Origami UI demo presentation</dc:subject>
  <dc:creator>OpenAI</dc:creator>
  <cp:lastModifiedBy>batuhan günal</cp:lastModifiedBy>
  <cp:revision>2</cp:revision>
  <dcterms:created xsi:type="dcterms:W3CDTF">2026-04-15T17:33:14Z</dcterms:created>
  <dcterms:modified xsi:type="dcterms:W3CDTF">2026-04-15T17:38:52Z</dcterms:modified>
</cp:coreProperties>
</file>